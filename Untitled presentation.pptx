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365eb5c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365eb5c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a24c3c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a24c3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365eb5c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365eb5c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365eb5c4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365eb5c4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65eb5c4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365eb5c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65eb5c4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65eb5c4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65eb5c4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65eb5c4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365eb5c4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365eb5c4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65eb5c4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65eb5c4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65eb5c4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65eb5c4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65eb5c4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365eb5c4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365eb5c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365eb5c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365eb5c4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365eb5c4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3a24c3c5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3a24c3c5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3a24c3c5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3a24c3c5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a24c3c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a24c3c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3ad98d7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3ad98d7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3ad98d7a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3ad98d7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3ad98d7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3ad98d7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3ad98d7a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3ad98d7a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3ad98d7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3ad98d7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3ad98d7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3ad98d7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3ad98d7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3ad98d7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3ad98d7a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3ad98d7a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852750" y="744575"/>
            <a:ext cx="67188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>
                <a:solidFill>
                  <a:schemeClr val="dk2"/>
                </a:solidFill>
              </a:rPr>
              <a:t>HTML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6D6862"/>
                </a:solidFill>
              </a:rPr>
              <a:t>Hypertext Markup </a:t>
            </a:r>
            <a:r>
              <a:rPr lang="en" sz="2500">
                <a:solidFill>
                  <a:srgbClr val="6D6862"/>
                </a:solidFill>
              </a:rPr>
              <a:t>Language</a:t>
            </a:r>
            <a:endParaRPr sz="2500">
              <a:solidFill>
                <a:srgbClr val="6D686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52750" y="74457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What is html ?</a:t>
            </a:r>
            <a:r>
              <a:rPr lang="en" sz="8600">
                <a:solidFill>
                  <a:schemeClr val="dk2"/>
                </a:solidFill>
              </a:rPr>
              <a:t>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1,HT</a:t>
            </a:r>
            <a:r>
              <a:rPr lang="en" sz="2300">
                <a:solidFill>
                  <a:schemeClr val="dk2"/>
                </a:solidFill>
              </a:rPr>
              <a:t>ML is the Skeleton of a website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2, HTML stands for HyperText Markup Language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3, HTML uses tags to describe content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</a:rPr>
              <a:t>4, HTML is the foundation of all websites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1071575" y="-14132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What is html ?</a:t>
            </a:r>
            <a:r>
              <a:rPr lang="en" sz="8600">
                <a:solidFill>
                  <a:schemeClr val="dk2"/>
                </a:solidFill>
              </a:rPr>
              <a:t> </a:t>
            </a:r>
            <a:endParaRPr sz="8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575" y="1189497"/>
            <a:ext cx="7000875" cy="39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852750" y="744575"/>
            <a:ext cx="67188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Element &amp; Tag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An HTML tag is a label or marker that tells the browser how to display content on a webpage.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852750" y="220950"/>
            <a:ext cx="6718800" cy="43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Element &amp; Tag</a:t>
            </a:r>
            <a:endParaRPr sz="40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813" y="1228323"/>
            <a:ext cx="5622275" cy="311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/>
        </p:nvSpPr>
        <p:spPr>
          <a:xfrm>
            <a:off x="958875" y="545725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 </a:t>
            </a:r>
            <a:r>
              <a:rPr lang="en" sz="4000">
                <a:solidFill>
                  <a:schemeClr val="dk1"/>
                </a:solidFill>
              </a:rPr>
              <a:t>Attribute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Attribute gives extra information about an HTML tag.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Written inside the opening tag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Customize or control the behavior of the element.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1558550" y="545750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 </a:t>
            </a:r>
            <a:r>
              <a:rPr lang="en" sz="4000">
                <a:solidFill>
                  <a:schemeClr val="dk1"/>
                </a:solidFill>
              </a:rPr>
              <a:t>Attribute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8550" y="1351225"/>
            <a:ext cx="5630875" cy="26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558550" y="545750"/>
            <a:ext cx="77286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2"/>
                </a:solidFill>
              </a:rPr>
              <a:t> Structure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5400" y="1752600"/>
            <a:ext cx="6933125" cy="24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Headings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"Headings are titles or subtitles that organize content on a webpage. They are written using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" sz="3000">
                <a:solidFill>
                  <a:schemeClr val="dk1"/>
                </a:solidFill>
              </a:rPr>
              <a:t> to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&lt;h6&gt;</a:t>
            </a:r>
            <a:r>
              <a:rPr lang="en" sz="3000">
                <a:solidFill>
                  <a:schemeClr val="dk1"/>
                </a:solidFill>
              </a:rPr>
              <a:t> tags.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Headings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2"/>
              </a:solidFill>
            </a:endParaRPr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525" y="1521900"/>
            <a:ext cx="4578500" cy="24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3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1"/>
                </a:solidFill>
              </a:rPr>
              <a:t>P</a:t>
            </a:r>
            <a:r>
              <a:rPr lang="en" sz="4000">
                <a:solidFill>
                  <a:schemeClr val="dk1"/>
                </a:solidFill>
              </a:rPr>
              <a:t>aragraphs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The HTML &lt;p&gt;tag is a fundamental element used for creating paragraphs in web development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4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HTML </a:t>
            </a:r>
            <a:r>
              <a:rPr lang="en" sz="4000">
                <a:solidFill>
                  <a:schemeClr val="dk1"/>
                </a:solidFill>
              </a:rPr>
              <a:t>Line </a:t>
            </a:r>
            <a:r>
              <a:rPr lang="en" sz="4000">
                <a:solidFill>
                  <a:schemeClr val="dk1"/>
                </a:solidFill>
              </a:rPr>
              <a:t>Break</a:t>
            </a:r>
            <a:endParaRPr sz="4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creates a line break in text, effectively starting a new line without starting a new paragraph.</a:t>
            </a:r>
            <a:r>
              <a:rPr lang="en" sz="3000">
                <a:solidFill>
                  <a:schemeClr val="dk1"/>
                </a:solidFill>
              </a:rPr>
              <a:t> &lt;br&gt;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500">
                <a:solidFill>
                  <a:schemeClr val="dk2"/>
                </a:solidFill>
              </a:rPr>
              <a:t>HTML Italic</a:t>
            </a:r>
            <a:endParaRPr i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The &lt;i&gt; tag is a general-purpose tag used to render text in italics without adding any extra meaning. This is useful for stylistic purposes like foreign phrases, taxonomic names, or text in a different voice.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212925" y="4348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500">
                <a:solidFill>
                  <a:schemeClr val="dk2"/>
                </a:solidFill>
              </a:rPr>
              <a:t>HTML Italic</a:t>
            </a:r>
            <a:endParaRPr i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425" y="1880575"/>
            <a:ext cx="7186175" cy="28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2"/>
                </a:solidFill>
              </a:rPr>
              <a:t>HTML Bold</a:t>
            </a:r>
            <a:endParaRPr b="1"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Bold text in HTML is created using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&lt;b&gt;</a:t>
            </a:r>
            <a:r>
              <a:rPr lang="en" sz="3000">
                <a:solidFill>
                  <a:schemeClr val="dk1"/>
                </a:solidFill>
              </a:rPr>
              <a:t> tags to make the text thicker and stand out.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585825" y="424775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HTML</a:t>
            </a:r>
            <a:r>
              <a:rPr b="1" lang="en" sz="4500">
                <a:solidFill>
                  <a:schemeClr val="dk2"/>
                </a:solidFill>
              </a:rPr>
              <a:t> </a:t>
            </a:r>
            <a:r>
              <a:rPr lang="en" sz="4500" u="sng">
                <a:solidFill>
                  <a:schemeClr val="dk2"/>
                </a:solidFill>
              </a:rPr>
              <a:t>Underline</a:t>
            </a:r>
            <a:endParaRPr sz="45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used to underline text within an HTML document. By placing text inside the &lt;u&gt;opening and closing tags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</a:t>
            </a:r>
            <a:r>
              <a:rPr lang="en" sz="4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&lt;sub&gt;</a:t>
            </a:r>
            <a:r>
              <a:rPr lang="en" sz="4500">
                <a:solidFill>
                  <a:schemeClr val="dk1"/>
                </a:solidFill>
              </a:rPr>
              <a:t> &amp;</a:t>
            </a:r>
            <a:r>
              <a:rPr lang="en" sz="4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&lt;sub&gt;</a:t>
            </a:r>
            <a:r>
              <a:rPr lang="en" sz="2100">
                <a:solidFill>
                  <a:schemeClr val="dk1"/>
                </a:solidFill>
              </a:rPr>
              <a:t> is used to display </a:t>
            </a:r>
            <a:r>
              <a:rPr b="1" lang="en" sz="2100">
                <a:solidFill>
                  <a:schemeClr val="dk1"/>
                </a:solidFill>
              </a:rPr>
              <a:t>subscript text</a:t>
            </a:r>
            <a:r>
              <a:rPr lang="en" sz="2100">
                <a:solidFill>
                  <a:schemeClr val="dk1"/>
                </a:solidFill>
              </a:rPr>
              <a:t>, which appears slightly </a:t>
            </a:r>
            <a:r>
              <a:rPr b="1" lang="en" sz="2100">
                <a:solidFill>
                  <a:schemeClr val="dk1"/>
                </a:solidFill>
              </a:rPr>
              <a:t>below</a:t>
            </a:r>
            <a:r>
              <a:rPr lang="en" sz="2100">
                <a:solidFill>
                  <a:schemeClr val="dk1"/>
                </a:solidFill>
              </a:rPr>
              <a:t> the normal line.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It is commonly used in chemical formulas like </a:t>
            </a:r>
            <a:r>
              <a:rPr b="1" lang="en" sz="2100">
                <a:solidFill>
                  <a:schemeClr val="dk1"/>
                </a:solidFill>
              </a:rPr>
              <a:t>H&lt;sub&gt;2&lt;/sub&gt;O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&lt;sup&gt;</a:t>
            </a:r>
            <a:r>
              <a:rPr lang="en" sz="2100">
                <a:solidFill>
                  <a:schemeClr val="dk1"/>
                </a:solidFill>
              </a:rPr>
              <a:t> is used to display </a:t>
            </a:r>
            <a:r>
              <a:rPr b="1" lang="en" sz="2100">
                <a:solidFill>
                  <a:schemeClr val="dk1"/>
                </a:solidFill>
              </a:rPr>
              <a:t>superscript text</a:t>
            </a:r>
            <a:r>
              <a:rPr lang="en" sz="2100">
                <a:solidFill>
                  <a:schemeClr val="dk1"/>
                </a:solidFill>
              </a:rPr>
              <a:t>, which appears slightly </a:t>
            </a:r>
            <a:r>
              <a:rPr b="1" lang="en" sz="2100">
                <a:solidFill>
                  <a:schemeClr val="dk1"/>
                </a:solidFill>
              </a:rPr>
              <a:t>above</a:t>
            </a:r>
            <a:r>
              <a:rPr lang="en" sz="2100">
                <a:solidFill>
                  <a:schemeClr val="dk1"/>
                </a:solidFill>
              </a:rPr>
              <a:t> the normal line.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It is used in math expressions like </a:t>
            </a:r>
            <a:r>
              <a:rPr b="1" lang="en" sz="2100">
                <a:solidFill>
                  <a:schemeClr val="dk1"/>
                </a:solidFill>
              </a:rPr>
              <a:t>x&lt;sup&gt;2&lt;/sup&gt;</a:t>
            </a:r>
            <a:r>
              <a:rPr lang="en" sz="2100">
                <a:solidFill>
                  <a:schemeClr val="dk1"/>
                </a:solidFill>
              </a:rPr>
              <a:t> or ordinal numbers like </a:t>
            </a:r>
            <a:r>
              <a:rPr b="1" lang="en" sz="2100">
                <a:solidFill>
                  <a:schemeClr val="dk1"/>
                </a:solidFill>
              </a:rPr>
              <a:t>1&lt;sup&gt;st&lt;/sup&gt;</a:t>
            </a:r>
            <a:r>
              <a:rPr lang="en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Links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Used to create clickable text that opens another webpage, section, file, or resource.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By placing text inside the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&lt;a&gt;</a:t>
            </a:r>
            <a:r>
              <a:rPr lang="en" sz="3000">
                <a:solidFill>
                  <a:schemeClr val="dk1"/>
                </a:solidFill>
              </a:rPr>
              <a:t>opening and closing tags, and adding an </a:t>
            </a:r>
            <a:r>
              <a:rPr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en" sz="3000">
                <a:solidFill>
                  <a:schemeClr val="dk1"/>
                </a:solidFill>
              </a:rPr>
              <a:t> attribute, the text becomes a hyperlink.</a:t>
            </a:r>
            <a:endParaRPr sz="3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</a:rPr>
              <a:t>Used to display items in a structured way inside a webpage.</a:t>
            </a:r>
            <a:endParaRPr sz="3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100">
                <a:solidFill>
                  <a:schemeClr val="dk1"/>
                </a:solidFill>
              </a:rPr>
              <a:t>By placing items inside the list opening and closing tags, the browser shows them as bulleted or numbered lists.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50"/>
            <a:ext cx="10586800" cy="512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/>
        </p:nvSpPr>
        <p:spPr>
          <a:xfrm>
            <a:off x="141475" y="1752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16" name="Google Shape;21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50" y="1288125"/>
            <a:ext cx="3487374" cy="3393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150" y="1288125"/>
            <a:ext cx="3154275" cy="33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4450" y="1288125"/>
            <a:ext cx="3311599" cy="339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List 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175" y="1550250"/>
            <a:ext cx="72390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 txBox="1"/>
          <p:nvPr/>
        </p:nvSpPr>
        <p:spPr>
          <a:xfrm>
            <a:off x="908975" y="53250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Table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Used to </a:t>
            </a:r>
            <a:r>
              <a:rPr b="1" lang="en" sz="3000">
                <a:solidFill>
                  <a:schemeClr val="dk1"/>
                </a:solidFill>
              </a:rPr>
              <a:t>display information in rows and columns</a:t>
            </a:r>
            <a:r>
              <a:rPr lang="en" sz="3000">
                <a:solidFill>
                  <a:schemeClr val="dk1"/>
                </a:solidFill>
              </a:rPr>
              <a:t> inside a webpage.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</a:rPr>
              <a:t>By placing content inside the </a:t>
            </a:r>
            <a:r>
              <a:rPr b="1" lang="en" sz="3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&lt;table&gt;</a:t>
            </a:r>
            <a:r>
              <a:rPr b="1" lang="en" sz="3000">
                <a:solidFill>
                  <a:schemeClr val="dk1"/>
                </a:solidFill>
              </a:rPr>
              <a:t> opening and closing tags</a:t>
            </a:r>
            <a:r>
              <a:rPr lang="en" sz="3000">
                <a:solidFill>
                  <a:schemeClr val="dk1"/>
                </a:solidFill>
              </a:rPr>
              <a:t>, the browser shows data in a </a:t>
            </a:r>
            <a:r>
              <a:rPr b="1" lang="en" sz="3000">
                <a:solidFill>
                  <a:schemeClr val="dk1"/>
                </a:solidFill>
              </a:rPr>
              <a:t>structured grid format</a:t>
            </a:r>
            <a:r>
              <a:rPr lang="en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 txBox="1"/>
          <p:nvPr/>
        </p:nvSpPr>
        <p:spPr>
          <a:xfrm>
            <a:off x="459275" y="110925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Table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200" y="1007150"/>
            <a:ext cx="6250750" cy="40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6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6"/>
          <p:cNvSpPr txBox="1"/>
          <p:nvPr/>
        </p:nvSpPr>
        <p:spPr>
          <a:xfrm>
            <a:off x="752175" y="60405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Form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Used to collect user input on a webpage.</a:t>
            </a:r>
            <a:br>
              <a:rPr lang="en" sz="2700">
                <a:solidFill>
                  <a:schemeClr val="dk1"/>
                </a:solidFill>
              </a:rPr>
            </a:br>
            <a:r>
              <a:rPr lang="en" sz="2700">
                <a:solidFill>
                  <a:schemeClr val="dk1"/>
                </a:solidFill>
              </a:rPr>
              <a:t> By placing fields inside the </a:t>
            </a:r>
            <a:r>
              <a:rPr lang="en" sz="27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&lt;form&gt;</a:t>
            </a:r>
            <a:r>
              <a:rPr lang="en" sz="2700">
                <a:solidFill>
                  <a:schemeClr val="dk1"/>
                </a:solidFill>
              </a:rPr>
              <a:t> opening and closing tags, a browser creates an area where users can enter information.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7"/>
          <p:cNvPicPr preferRelativeResize="0"/>
          <p:nvPr/>
        </p:nvPicPr>
        <p:blipFill rotWithShape="1">
          <a:blip r:embed="rId3">
            <a:alphaModFix/>
          </a:blip>
          <a:srcRect b="961" l="0" r="0" t="961"/>
          <a:stretch/>
        </p:blipFill>
        <p:spPr>
          <a:xfrm>
            <a:off x="0" y="22860"/>
            <a:ext cx="914400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7"/>
          <p:cNvSpPr txBox="1"/>
          <p:nvPr/>
        </p:nvSpPr>
        <p:spPr>
          <a:xfrm>
            <a:off x="752175" y="604050"/>
            <a:ext cx="7049400" cy="3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dk2"/>
                </a:solidFill>
              </a:rPr>
              <a:t>  HTML Image</a:t>
            </a:r>
            <a:endParaRPr sz="4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The </a:t>
            </a:r>
            <a:r>
              <a:rPr lang="en" sz="2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&lt;img&gt;</a:t>
            </a:r>
            <a:r>
              <a:rPr lang="en" sz="2000">
                <a:solidFill>
                  <a:schemeClr val="dk1"/>
                </a:solidFill>
              </a:rPr>
              <a:t> tag is used to embed images into a webpage.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It is an empty (self-closing) element, meaning it does not have a closing tag.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All the control and information for the image are given through attributes.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